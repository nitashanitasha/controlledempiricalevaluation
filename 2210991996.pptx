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1007C48-5C8A-4D3E-8C3E-F3417E2C87C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0" autoAdjust="0"/>
    <p:restoredTop sz="94610" autoAdjust="0"/>
  </p:normalViewPr>
  <p:slideViewPr>
    <p:cSldViewPr snapToGrid="0" snapToObjects="1">
      <p:cViewPr>
        <p:scale>
          <a:sx n="100" d="100"/>
          <a:sy n="100" d="100"/>
        </p:scale>
        <p:origin x="-296" y="-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MAE Comparison (Relative)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0824228366802985"/>
          <c:y val="0.18414698162729659"/>
          <c:w val="0.85622800056969628"/>
          <c:h val="0.727942757155355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A527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22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LSTM</c:v>
                </c:pt>
                <c:pt idx="1">
                  <c:v>LSTM+Dense</c:v>
                </c:pt>
                <c:pt idx="2">
                  <c:v>QALSTM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1.1499999999999999</c:v>
                </c:pt>
                <c:pt idx="2">
                  <c:v>1.85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0931712"/>
        <c:axId val="150933504"/>
      </c:barChart>
      <c:catAx>
        <c:axId val="1509317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150933504"/>
        <c:crosses val="autoZero"/>
        <c:auto val="1"/>
        <c:lblAlgn val="ctr"/>
        <c:lblOffset val="100"/>
        <c:noMultiLvlLbl val="1"/>
      </c:catAx>
      <c:valAx>
        <c:axId val="15093350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150931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MSE Comparison (Relative)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MSE</c:v>
                </c:pt>
              </c:strCache>
            </c:strRef>
          </c:tx>
          <c:spPr>
            <a:solidFill>
              <a:srgbClr val="1A527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22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LSTM</c:v>
                </c:pt>
                <c:pt idx="1">
                  <c:v>LSTM+Dense</c:v>
                </c:pt>
                <c:pt idx="2">
                  <c:v>QALSTM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1.3</c:v>
                </c:pt>
                <c:pt idx="2">
                  <c:v>3.4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1344256"/>
        <c:axId val="151345792"/>
      </c:barChart>
      <c:catAx>
        <c:axId val="1513442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151345792"/>
        <c:crosses val="autoZero"/>
        <c:auto val="1"/>
        <c:lblAlgn val="ctr"/>
        <c:lblOffset val="100"/>
        <c:noMultiLvlLbl val="1"/>
      </c:catAx>
      <c:valAx>
        <c:axId val="15134579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151344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09C32-7C63-4566-ADA0-F0BC53119D85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48118-09FD-490F-8DB2-513540C4D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3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20339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200" b="0" strike="noStrike" spc="-1" smtClean="0">
                <a:latin typeface="Arial"/>
              </a:rPr>
              <a:t>Click to edit Master subtitle style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39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317871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200" b="0" strike="noStrike" spc="-1" smtClean="0">
                <a:latin typeface="Arial"/>
              </a:rPr>
              <a:t>Click to edit Master subtitle style</a:t>
            </a: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20339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276156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20339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276156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20339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2761560"/>
            <a:ext cx="822924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822924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2761560"/>
            <a:ext cx="822924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39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276156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276156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26496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203390"/>
            <a:ext cx="26496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203390"/>
            <a:ext cx="26496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2761560"/>
            <a:ext cx="26496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2761560"/>
            <a:ext cx="26496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2761560"/>
            <a:ext cx="26496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 smtClean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62829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5028480"/>
            <a:ext cx="9143640" cy="14823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171450"/>
            <a:ext cx="2057040" cy="47601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171450"/>
            <a:ext cx="2057040" cy="47601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65691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6"/>
          <a:stretch/>
        </p:blipFill>
        <p:spPr>
          <a:xfrm>
            <a:off x="6553080" y="171450"/>
            <a:ext cx="1920600" cy="45684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171450"/>
            <a:ext cx="2057040" cy="47601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65691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6"/>
          <a:stretch/>
        </p:blipFill>
        <p:spPr>
          <a:xfrm>
            <a:off x="6553080" y="171450"/>
            <a:ext cx="1920600" cy="45684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62829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smtClean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028700"/>
            <a:ext cx="8229240" cy="339417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lvl="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smtClean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</a:p>
          <a:p>
            <a:pPr marL="343080" lvl="1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smtClean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</a:p>
          <a:p>
            <a:pPr marL="343080" lvl="2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smtClean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</a:p>
          <a:p>
            <a:pPr marL="343080" lvl="3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smtClean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</a:p>
          <a:p>
            <a:pPr marL="343080" lvl="4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smtClean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0" y="7315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b="1" dirty="0" smtClean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b="1" dirty="0" smtClean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</a:t>
            </a:r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 of CO-OP Project at Industry (Module-2) (22CS421)</a:t>
            </a:r>
            <a:endParaRPr lang="en-US" b="1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 smtClean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sz="2000" dirty="0" smtClean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Controlled Empirical Evaluation of Classical and Quantum-Augmented LSTM Models for Financial Time-Series Forecasting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184400"/>
            <a:ext cx="8229600" cy="755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Nitasha  |  Dipasha  </a:t>
            </a:r>
            <a:endParaRPr lang="en-US" sz="2000" dirty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(2210991996)  (2210991519)                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1064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Gurpreet</a:t>
            </a:r>
            <a:r>
              <a:rPr lang="en-US" sz="20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000" smtClean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Singh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Department of Computer Science and Engineering,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Chitkara University, Punjab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" y="9525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589520" y="182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6380" y="690880"/>
            <a:ext cx="6858000" cy="3754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1.  Introduction &amp; Motivation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2.  Literature Survey &amp; Research Gap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3.  Methodology &amp; Dataset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4.  Model Architectures: LSTM, LSTM+Dense, QALSTM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5.  Training &amp; Evaluation Protocol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6.  Results &amp; Discussion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7.  Conclusion &amp; Future Work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" y="11887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589520" y="182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time-series forecasting</a:t>
            </a: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critical for quantitative finance, risk management, and algorithmic trading.</a:t>
            </a:r>
            <a:endParaRPr lang="en-US" sz="1600" dirty="0"/>
          </a:p>
          <a:p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methods</a:t>
            </a: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(ARIMA, GARCH) rely on strong distributional assumptions — limiting real-world effectiveness.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(LSTM)</a:t>
            </a: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networks capture long-range temporal dependencies via gated memory mechanisms and have proven superior on financial sequences.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Quantum Machine Learning (QML)</a:t>
            </a: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introduces Quantum-Augmented LSTM (QALSTM) — integrating parameterized quantum circuits (PQCs) into recurrent architectures.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Question:</a:t>
            </a: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Does quantum augmentation provide measurable benefit over strong classical baselines for real-world financial forecasting under NISQ-era constraints?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" y="762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&amp; Research Gap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589520" y="182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7335" y="869950"/>
            <a:ext cx="8609329" cy="379349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86995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22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Controlled Comparisons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534922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052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prior study fairly benchmarks LSTM, LSTM+Dense, and QALSTM under identical preprocessing, training, and evaluation protocols.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869950"/>
            <a:ext cx="2743200" cy="379349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9169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Real-World Validation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76292" y="1534922"/>
            <a:ext cx="2377440" cy="0"/>
          </a:xfrm>
          <a:prstGeom prst="line">
            <a:avLst/>
          </a:prstGeom>
          <a:noFill/>
          <a:ln w="12700">
            <a:solidFill>
              <a:srgbClr val="FF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4852" y="16052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QML studies rely on synthetic or small-scale datasets. Variance collapse and underfitting in QALSTM remain underexplored.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9169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22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Reproducible Benchmarking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4910" y="1534922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pipelines lack transparency and reproducibility for real-market OHLCV data, making it hard to build on prior claims.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" y="1016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&amp; Dataset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589520" y="182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3931920" cy="363016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298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22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689100"/>
            <a:ext cx="3749040" cy="28646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</a:t>
            </a: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Yahoo Finance — Reliance Industries Ltd.</a:t>
            </a:r>
            <a:endParaRPr lang="en-US" sz="1400" dirty="0"/>
          </a:p>
          <a:p>
            <a:endParaRPr lang="en-US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Period: </a:t>
            </a: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Years (2020–2025), Daily </a:t>
            </a:r>
            <a:r>
              <a:rPr lang="en-US" sz="1400" dirty="0" smtClean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OHLCV</a:t>
            </a:r>
            <a:endParaRPr lang="en-US" sz="1400" dirty="0"/>
          </a:p>
          <a:p>
            <a:r>
              <a:rPr lang="en-US" sz="1400" dirty="0" smtClean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Features: </a:t>
            </a: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Open, High, Low, Close, Volume</a:t>
            </a:r>
            <a:endParaRPr lang="en-US" sz="1400" dirty="0"/>
          </a:p>
          <a:p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Characteristics: </a:t>
            </a: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Realistic market conditions, volatility, trend shifts, noise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078992"/>
            <a:ext cx="4297680" cy="363016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2278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22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1689100"/>
            <a:ext cx="4114800" cy="28646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1:  Min-Max normalization of all OHLCV features</a:t>
            </a:r>
            <a:endParaRPr lang="en-US" sz="1400" dirty="0"/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2:  Sliding-window sequence construction (T days → next-day close)</a:t>
            </a:r>
            <a:endParaRPr lang="en-US" sz="1400" dirty="0"/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3:  Chronological train / val / test split: 70% / 15% / 15%</a:t>
            </a:r>
            <a:endParaRPr lang="en-US" sz="1400" dirty="0"/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4:  Identical preprocessing applied to ALL three architectures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" y="11887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Architectures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589520" y="182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295400"/>
            <a:ext cx="2788920" cy="3413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721360"/>
            <a:ext cx="278892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21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LSTM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1409700"/>
            <a:ext cx="2606040" cy="3162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Single-layer LSTM + linear output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Forget, input, cell, output gates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Robust baseline: handles vanishing gradients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Widely validated in finance literature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295400"/>
            <a:ext cx="2788920" cy="3413760"/>
          </a:xfrm>
          <a:prstGeom prst="rect">
            <a:avLst/>
          </a:prstGeom>
          <a:solidFill>
            <a:srgbClr val="FFFFFF"/>
          </a:solidFill>
          <a:ln w="25400">
            <a:solidFill>
              <a:srgbClr val="CC22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741910"/>
            <a:ext cx="2788920" cy="48237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708775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LSTM + Dense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360054"/>
            <a:ext cx="2606040" cy="8485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LSTM followed by fully connected layer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Nonlinear transform: h′ = σ(Wdh + bd)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Increases representational capacity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Risk: overfitting on noisy data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1295400"/>
            <a:ext cx="2788920" cy="3413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741910"/>
            <a:ext cx="2788920" cy="48237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721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QALSTM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360054"/>
            <a:ext cx="2606040" cy="32119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LSTM encoder → PQC → classical output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Angle-based feature encoding into qubits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NISQ-realistic: shallow, no fault tolerance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Information bottleneck from dim. reduction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" y="1016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Architectural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589520" y="182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218504"/>
              </p:ext>
            </p:extLst>
          </p:nvPr>
        </p:nvGraphicFramePr>
        <p:xfrm>
          <a:off x="495300" y="1014730"/>
          <a:ext cx="8229600" cy="3328416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LSTM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LSTM+Dense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QALSTM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Temporal modeling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Additional nonlinearity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✖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 (quantum)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Quantum processing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✖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✖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Parameter complexity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Moderate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Hybrid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Optimization stability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Moderate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 (NISQ)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Information bottleneck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✖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✖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" y="8255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&amp; Evaluation Protocol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589520" y="182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22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Setup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02336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Optimizer: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10058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Adam (identical across all models)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4592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Rate: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16459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value — no model-specific tuning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02336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860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Size: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22860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Identical for all architectures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2608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Epochs: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29260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epoch count for fair comparison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02336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6616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Split: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356616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70% train / 15% validation / 15% test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6217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22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420624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00584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MSE: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06440" y="10058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Squared Error — penalizes large deviations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82880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8288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MAE: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06440" y="18288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Absolute Error — intuitive magnitude measure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2651760"/>
            <a:ext cx="420624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65176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Trajectory: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0644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Qualitative alignment with real price movement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347472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4747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Consistency: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0644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Evaluated on both validation and test sets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" y="9525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589520" y="182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179783576"/>
              </p:ext>
            </p:extLst>
          </p:nvPr>
        </p:nvGraphicFramePr>
        <p:xfrm>
          <a:off x="365760" y="784860"/>
          <a:ext cx="39319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3739930504"/>
              </p:ext>
            </p:extLst>
          </p:nvPr>
        </p:nvGraphicFramePr>
        <p:xfrm>
          <a:off x="4480560" y="77597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LSTM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achieves lowest MAE &amp; MSE. </a:t>
            </a:r>
            <a:r>
              <a:rPr lang="en-US" sz="1300" b="1" dirty="0">
                <a:solidFill>
                  <a:srgbClr val="1E844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QALSTM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exhibits output variance collapse → underfitting &amp; significantly higher error.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" y="635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589520" y="182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676656"/>
            <a:ext cx="384048" cy="384048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76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65836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LSTM consistently outperforms QALSTM on both MAE and MSE across validation and test sets.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" y="1453896"/>
            <a:ext cx="384048" cy="384048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43560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LSTM+Dense offers only marginal changes over LSTM — dense augmentation brings no robust gain on noisy financial data.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384048" cy="384048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21284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QALSTM shows reduced output variance and underfitting — fails to capture short-term price oscillations.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74320" y="3008376"/>
            <a:ext cx="384048" cy="384048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99008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Barren plateaus and expressivity limits in shallow VQCs explain QALSTM's underperformance — consistent with theoretical predictions.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74320" y="3785616"/>
            <a:ext cx="384048" cy="384048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76732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Findings do not disprove quantum computing for finance — they call for principled integration strategies beyond naive augmentation.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" y="889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589520" y="182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9839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22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52728"/>
            <a:ext cx="8321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study presents a controlled, reproducible empirical comparison of LSTM, LSTM+Dense, and QALSTM for stock price prediction using five years of real OHLCV data. Classical LSTM consistently outperforms quantum-augmented variants in predictive accuracy and stability. The results provide a practical diagnostic of quantum involvement in financial regression, highlighting NISQ-era limitations rather than asserting quantum disadvantage.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8595360" cy="2057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20153"/>
            <a:ext cx="8321040" cy="2624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22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381378"/>
            <a:ext cx="8229600" cy="10826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 advanced PQC designs with better expressivity and error mitigation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benchmarking to multi-stock datasets and longer time horizons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Investigate temporal modeling techniques (TCN, Transformers) alongside QALSTM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on real quantum hardware (not simulation) as NISQ devices mature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0" y="7315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OP2_External_PPT (2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COOP2_External_PPT (2)</Template>
  <TotalTime>38</TotalTime>
  <Words>852</Words>
  <Application>Microsoft Office PowerPoint</Application>
  <PresentationFormat>On-screen Show (16:9)</PresentationFormat>
  <Paragraphs>163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COOP2_External_PPT (2)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DIPASHA</cp:lastModifiedBy>
  <cp:revision>5</cp:revision>
  <dcterms:created xsi:type="dcterms:W3CDTF">2026-05-17T09:03:37Z</dcterms:created>
  <dcterms:modified xsi:type="dcterms:W3CDTF">2026-05-17T09:47:21Z</dcterms:modified>
</cp:coreProperties>
</file>